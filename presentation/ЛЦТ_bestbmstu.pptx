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574">
          <p15:clr>
            <a:srgbClr val="A4A3A4"/>
          </p15:clr>
        </p15:guide>
        <p15:guide id="3" pos="3613">
          <p15:clr>
            <a:srgbClr val="A4A3A4"/>
          </p15:clr>
        </p15:guide>
        <p15:guide id="4" pos="5496">
          <p15:clr>
            <a:srgbClr val="A4A3A4"/>
          </p15:clr>
        </p15:guide>
        <p15:guide id="5" pos="406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574"/>
        <p:guide pos="3613"/>
        <p:guide pos="5496"/>
        <p:guide pos="406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9b384b677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9b384b677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9b384b6775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b384b6775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9b384b6775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9b384b6775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b384b6775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9b384b6775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9b384b6775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b384b6775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9b384b6775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9b384b6775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b384b6775_5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9b384b6775_5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9b384b6775_5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>
            <p:ph idx="2" type="pic"/>
          </p:nvPr>
        </p:nvSpPr>
        <p:spPr>
          <a:xfrm>
            <a:off x="6792000" y="395288"/>
            <a:ext cx="5400000" cy="5400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97"/>
              <a:buNone/>
              <a:defRPr sz="280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/>
          <p:nvPr>
            <p:ph idx="3" type="pic"/>
          </p:nvPr>
        </p:nvSpPr>
        <p:spPr>
          <a:xfrm>
            <a:off x="802640" y="2911980"/>
            <a:ext cx="3386773" cy="1082589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2"/>
          <p:cNvSpPr txBox="1"/>
          <p:nvPr>
            <p:ph idx="1" type="body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SzPts val="1452"/>
              <a:buNone/>
              <a:defRPr sz="1800"/>
            </a:lvl1pPr>
            <a:lvl2pPr indent="-309308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SzPts val="1271"/>
              <a:buChar char="•"/>
              <a:defRPr/>
            </a:lvl2pPr>
            <a:lvl3pPr indent="-291909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SzPts val="997"/>
              <a:buChar char="•"/>
              <a:defRPr/>
            </a:lvl3pPr>
            <a:lvl4pPr indent="-286194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SzPts val="907"/>
              <a:buChar char="•"/>
              <a:defRPr/>
            </a:lvl4pPr>
            <a:lvl5pPr indent="-286194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SzPts val="907"/>
              <a:buChar char="•"/>
              <a:defRPr/>
            </a:lvl5pPr>
            <a:lvl6pPr indent="-301053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SzPts val="1141"/>
              <a:buChar char="•"/>
              <a:defRPr/>
            </a:lvl6pPr>
            <a:lvl7pPr indent="-301053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SzPts val="1141"/>
              <a:buChar char="•"/>
              <a:defRPr/>
            </a:lvl7pPr>
            <a:lvl8pPr indent="-301053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SzPts val="1141"/>
              <a:buChar char="•"/>
              <a:defRPr/>
            </a:lvl8pPr>
            <a:lvl9pPr indent="-301053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SzPts val="1141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>
            <p:ph idx="2" type="pic"/>
          </p:nvPr>
        </p:nvSpPr>
        <p:spPr>
          <a:xfrm>
            <a:off x="6792000" y="395288"/>
            <a:ext cx="5400000" cy="540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3"/>
          <p:cNvSpPr txBox="1"/>
          <p:nvPr>
            <p:ph type="ctrTitle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/>
          <p:nvPr>
            <p:ph idx="3" type="pic"/>
          </p:nvPr>
        </p:nvSpPr>
        <p:spPr>
          <a:xfrm>
            <a:off x="802640" y="2911980"/>
            <a:ext cx="3386773" cy="1082589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манда">
  <p:cSld name="Команда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2" type="body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3" type="body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4" type="body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5" type="body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" type="body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Char char="•"/>
              <a:defRPr>
                <a:solidFill>
                  <a:srgbClr val="F2F2F2"/>
                </a:solidFill>
              </a:defRPr>
            </a:lvl1pPr>
            <a:lvl2pPr indent="-309308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Char char="•"/>
              <a:defRPr>
                <a:solidFill>
                  <a:srgbClr val="F2F2F2"/>
                </a:solidFill>
              </a:defRPr>
            </a:lvl2pPr>
            <a:lvl3pPr indent="-291909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Char char="•"/>
              <a:defRPr>
                <a:solidFill>
                  <a:srgbClr val="F2F2F2"/>
                </a:solidFill>
              </a:defRPr>
            </a:lvl3pPr>
            <a:lvl4pPr indent="-286194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4pPr>
            <a:lvl5pPr indent="-286194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Char char="•"/>
              <a:defRPr>
                <a:solidFill>
                  <a:srgbClr val="F2F2F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облема и решение">
  <p:cSld name="Проблема и решение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/>
          <p:nvPr>
            <p:ph idx="1" type="body"/>
          </p:nvPr>
        </p:nvSpPr>
        <p:spPr>
          <a:xfrm>
            <a:off x="517027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/>
          <p:nvPr>
            <p:ph idx="2" type="body"/>
          </p:nvPr>
        </p:nvSpPr>
        <p:spPr>
          <a:xfrm>
            <a:off x="4464542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/>
          <p:nvPr>
            <p:ph idx="3" type="body"/>
          </p:nvPr>
        </p:nvSpPr>
        <p:spPr>
          <a:xfrm>
            <a:off x="8385481" y="3810175"/>
            <a:ext cx="3264113" cy="2375115"/>
          </a:xfrm>
          <a:prstGeom prst="roundRect">
            <a:avLst>
              <a:gd fmla="val 101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4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/>
          <p:nvPr>
            <p:ph idx="4" type="body"/>
          </p:nvPr>
        </p:nvSpPr>
        <p:spPr>
          <a:xfrm>
            <a:off x="517027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/>
          <p:nvPr>
            <p:ph idx="5" type="body"/>
          </p:nvPr>
        </p:nvSpPr>
        <p:spPr>
          <a:xfrm>
            <a:off x="4464542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/>
          <p:nvPr>
            <p:ph idx="6" type="body"/>
          </p:nvPr>
        </p:nvSpPr>
        <p:spPr>
          <a:xfrm>
            <a:off x="8385481" y="3252336"/>
            <a:ext cx="3264113" cy="391783"/>
          </a:xfrm>
          <a:prstGeom prst="roundRect">
            <a:avLst>
              <a:gd fmla="val 101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>
            <a:off x="1994303" y="2973742"/>
            <a:ext cx="2190810" cy="910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2" type="body"/>
          </p:nvPr>
        </p:nvSpPr>
        <p:spPr>
          <a:xfrm>
            <a:off x="6662924" y="1588128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3" type="body"/>
          </p:nvPr>
        </p:nvSpPr>
        <p:spPr>
          <a:xfrm>
            <a:off x="6662924" y="2445138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4" type="body"/>
          </p:nvPr>
        </p:nvSpPr>
        <p:spPr>
          <a:xfrm>
            <a:off x="6662924" y="3302147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5" type="body"/>
          </p:nvPr>
        </p:nvSpPr>
        <p:spPr>
          <a:xfrm>
            <a:off x="6662924" y="4159156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6" type="body"/>
          </p:nvPr>
        </p:nvSpPr>
        <p:spPr>
          <a:xfrm>
            <a:off x="6662924" y="5016166"/>
            <a:ext cx="4902200" cy="7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type="ctrTitle"/>
          </p:nvPr>
        </p:nvSpPr>
        <p:spPr>
          <a:xfrm>
            <a:off x="802640" y="3922529"/>
            <a:ext cx="5293359" cy="1654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800"/>
              <a:buFont typeface="Montserrat"/>
              <a:buNone/>
              <a:defRPr sz="280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 заголовком">
  <p:cSld name="Пустой с заголовком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Описание команды">
  <p:cSld name="1_Описание команды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>
            <p:ph idx="2" type="pic"/>
          </p:nvPr>
        </p:nvSpPr>
        <p:spPr>
          <a:xfrm>
            <a:off x="6894095" y="1044081"/>
            <a:ext cx="4962943" cy="2221824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/>
          <p:nvPr/>
        </p:nvSpPr>
        <p:spPr>
          <a:xfrm>
            <a:off x="346075" y="395288"/>
            <a:ext cx="11244772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6"/>
              <a:buFont typeface="Montserrat"/>
              <a:buNone/>
            </a:pPr>
            <a:r>
              <a:rPr b="1" i="0" lang="ru-RU" sz="1995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«НАЗВАНИЕ»</a:t>
            </a:r>
            <a:endParaRPr b="1" i="0" sz="1995" u="none" cap="none" strike="noStrike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держание_1">
  <p:cSld name="Содержание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1873541" y="1222713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2" type="body"/>
          </p:nvPr>
        </p:nvSpPr>
        <p:spPr>
          <a:xfrm>
            <a:off x="1873544" y="1790324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3" type="body"/>
          </p:nvPr>
        </p:nvSpPr>
        <p:spPr>
          <a:xfrm>
            <a:off x="1854185" y="2826697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4" type="body"/>
          </p:nvPr>
        </p:nvSpPr>
        <p:spPr>
          <a:xfrm>
            <a:off x="1854185" y="3374436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5" type="body"/>
          </p:nvPr>
        </p:nvSpPr>
        <p:spPr>
          <a:xfrm>
            <a:off x="1854185" y="4410809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6" type="body"/>
          </p:nvPr>
        </p:nvSpPr>
        <p:spPr>
          <a:xfrm>
            <a:off x="1854185" y="495854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7" type="body"/>
          </p:nvPr>
        </p:nvSpPr>
        <p:spPr>
          <a:xfrm>
            <a:off x="7546648" y="1222713"/>
            <a:ext cx="3866856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8" type="body"/>
          </p:nvPr>
        </p:nvSpPr>
        <p:spPr>
          <a:xfrm>
            <a:off x="7546651" y="1790324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9" type="body"/>
          </p:nvPr>
        </p:nvSpPr>
        <p:spPr>
          <a:xfrm>
            <a:off x="7527292" y="2826697"/>
            <a:ext cx="3866856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3" type="body"/>
          </p:nvPr>
        </p:nvSpPr>
        <p:spPr>
          <a:xfrm>
            <a:off x="7527292" y="3374436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4" type="body"/>
          </p:nvPr>
        </p:nvSpPr>
        <p:spPr>
          <a:xfrm>
            <a:off x="7527292" y="4410809"/>
            <a:ext cx="3866856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5" type="body"/>
          </p:nvPr>
        </p:nvSpPr>
        <p:spPr>
          <a:xfrm>
            <a:off x="7527292" y="4958548"/>
            <a:ext cx="3866856" cy="67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6" type="body"/>
          </p:nvPr>
        </p:nvSpPr>
        <p:spPr>
          <a:xfrm>
            <a:off x="778493" y="1187988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7" type="body"/>
          </p:nvPr>
        </p:nvSpPr>
        <p:spPr>
          <a:xfrm>
            <a:off x="759137" y="2791972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8" type="body"/>
          </p:nvPr>
        </p:nvSpPr>
        <p:spPr>
          <a:xfrm>
            <a:off x="759137" y="4376084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9" type="body"/>
          </p:nvPr>
        </p:nvSpPr>
        <p:spPr>
          <a:xfrm>
            <a:off x="6451600" y="1187988"/>
            <a:ext cx="771003" cy="423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20" type="body"/>
          </p:nvPr>
        </p:nvSpPr>
        <p:spPr>
          <a:xfrm>
            <a:off x="6432244" y="2791972"/>
            <a:ext cx="771003" cy="4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21" type="body"/>
          </p:nvPr>
        </p:nvSpPr>
        <p:spPr>
          <a:xfrm>
            <a:off x="6432244" y="4376084"/>
            <a:ext cx="771003" cy="403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0" sz="2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графии">
  <p:cSld name="Фотографии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1" name="Google Shape;101;p12"/>
          <p:cNvSpPr txBox="1"/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/>
          <p:nvPr>
            <p:ph idx="2" type="pic"/>
          </p:nvPr>
        </p:nvSpPr>
        <p:spPr>
          <a:xfrm>
            <a:off x="7440147" y="1016001"/>
            <a:ext cx="4405777" cy="3078479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2"/>
          <p:cNvSpPr/>
          <p:nvPr>
            <p:ph idx="3" type="pic"/>
          </p:nvPr>
        </p:nvSpPr>
        <p:spPr>
          <a:xfrm>
            <a:off x="7440149" y="4389108"/>
            <a:ext cx="4405775" cy="1811668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/>
          <p:nvPr>
            <p:ph idx="4" type="pic"/>
          </p:nvPr>
        </p:nvSpPr>
        <p:spPr>
          <a:xfrm>
            <a:off x="346075" y="3223948"/>
            <a:ext cx="6806142" cy="2976827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2"/>
          <p:cNvSpPr txBox="1"/>
          <p:nvPr>
            <p:ph idx="1" type="body"/>
          </p:nvPr>
        </p:nvSpPr>
        <p:spPr>
          <a:xfrm>
            <a:off x="346075" y="1016001"/>
            <a:ext cx="6806142" cy="2029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2"/>
          <p:cNvSpPr/>
          <p:nvPr/>
        </p:nvSpPr>
        <p:spPr>
          <a:xfrm>
            <a:off x="346075" y="1016001"/>
            <a:ext cx="6806142" cy="2029882"/>
          </a:xfrm>
          <a:prstGeom prst="rect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тистика">
  <p:cSld name="Статистика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1" name="Google Shape;111;p13"/>
          <p:cNvSpPr txBox="1"/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/>
          <p:nvPr>
            <p:ph idx="1" type="body"/>
          </p:nvPr>
        </p:nvSpPr>
        <p:spPr>
          <a:xfrm>
            <a:off x="6683077" y="1026867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2" type="body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3"/>
          <p:cNvSpPr/>
          <p:nvPr>
            <p:ph idx="3" type="body"/>
          </p:nvPr>
        </p:nvSpPr>
        <p:spPr>
          <a:xfrm>
            <a:off x="6683077" y="2807582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4" type="body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3"/>
          <p:cNvSpPr/>
          <p:nvPr>
            <p:ph idx="5" type="body"/>
          </p:nvPr>
        </p:nvSpPr>
        <p:spPr>
          <a:xfrm>
            <a:off x="6683077" y="4584029"/>
            <a:ext cx="4790314" cy="1615356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idx="6" type="body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татистика">
  <p:cSld name="2_Статистика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2" name="Google Shape;122;p14"/>
          <p:cNvSpPr txBox="1"/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4"/>
          <p:cNvSpPr/>
          <p:nvPr>
            <p:ph idx="1" type="body"/>
          </p:nvPr>
        </p:nvSpPr>
        <p:spPr>
          <a:xfrm>
            <a:off x="6683077" y="1016000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4"/>
          <p:cNvSpPr txBox="1"/>
          <p:nvPr>
            <p:ph idx="2" type="body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4"/>
          <p:cNvSpPr/>
          <p:nvPr>
            <p:ph idx="3" type="body"/>
          </p:nvPr>
        </p:nvSpPr>
        <p:spPr>
          <a:xfrm>
            <a:off x="6683077" y="2284561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B37BED"/>
              </a:buClr>
              <a:buSzPts val="1800"/>
              <a:buChar char="•"/>
              <a:defRPr b="1" sz="1800">
                <a:solidFill>
                  <a:srgbClr val="B37BE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4"/>
          <p:cNvSpPr txBox="1"/>
          <p:nvPr>
            <p:ph idx="4" type="body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4"/>
          <p:cNvSpPr/>
          <p:nvPr>
            <p:ph idx="5" type="body"/>
          </p:nvPr>
        </p:nvSpPr>
        <p:spPr>
          <a:xfrm>
            <a:off x="6683077" y="3553122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4"/>
          <p:cNvSpPr txBox="1"/>
          <p:nvPr>
            <p:ph idx="6" type="body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4"/>
          <p:cNvSpPr/>
          <p:nvPr>
            <p:ph idx="7" type="body"/>
          </p:nvPr>
        </p:nvSpPr>
        <p:spPr>
          <a:xfrm>
            <a:off x="6683077" y="4821684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8" type="body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татистика">
  <p:cSld name="1_Статистика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5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5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5" name="Google Shape;135;p15"/>
          <p:cNvSpPr txBox="1"/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5"/>
          <p:cNvSpPr/>
          <p:nvPr>
            <p:ph idx="1" type="body"/>
          </p:nvPr>
        </p:nvSpPr>
        <p:spPr>
          <a:xfrm>
            <a:off x="6683077" y="1016000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15"/>
          <p:cNvSpPr txBox="1"/>
          <p:nvPr>
            <p:ph idx="2" type="body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15"/>
          <p:cNvSpPr/>
          <p:nvPr>
            <p:ph idx="3" type="body"/>
          </p:nvPr>
        </p:nvSpPr>
        <p:spPr>
          <a:xfrm>
            <a:off x="6683077" y="2284561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B37BED"/>
              </a:buClr>
              <a:buSzPts val="1800"/>
              <a:buChar char="•"/>
              <a:defRPr b="1" sz="1800">
                <a:solidFill>
                  <a:srgbClr val="B37BED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15"/>
          <p:cNvSpPr txBox="1"/>
          <p:nvPr>
            <p:ph idx="4" type="body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5"/>
          <p:cNvSpPr/>
          <p:nvPr>
            <p:ph idx="5" type="body"/>
          </p:nvPr>
        </p:nvSpPr>
        <p:spPr>
          <a:xfrm>
            <a:off x="6683077" y="3553122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15"/>
          <p:cNvSpPr txBox="1"/>
          <p:nvPr>
            <p:ph idx="6" type="body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5"/>
          <p:cNvSpPr/>
          <p:nvPr>
            <p:ph idx="7" type="body"/>
          </p:nvPr>
        </p:nvSpPr>
        <p:spPr>
          <a:xfrm>
            <a:off x="6683077" y="4821684"/>
            <a:ext cx="4790314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5"/>
          <p:cNvSpPr txBox="1"/>
          <p:nvPr>
            <p:ph idx="8" type="body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адии">
  <p:cSld name="Стадии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6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8" name="Google Shape;148;p16"/>
          <p:cNvSpPr/>
          <p:nvPr>
            <p:ph idx="1" type="body"/>
          </p:nvPr>
        </p:nvSpPr>
        <p:spPr>
          <a:xfrm>
            <a:off x="346075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2" type="body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16"/>
          <p:cNvSpPr/>
          <p:nvPr>
            <p:ph idx="3" type="body"/>
          </p:nvPr>
        </p:nvSpPr>
        <p:spPr>
          <a:xfrm>
            <a:off x="4832960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4" type="body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16"/>
          <p:cNvSpPr/>
          <p:nvPr>
            <p:ph idx="5" type="body"/>
          </p:nvPr>
        </p:nvSpPr>
        <p:spPr>
          <a:xfrm>
            <a:off x="9330862" y="1024937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6"/>
          <p:cNvSpPr txBox="1"/>
          <p:nvPr>
            <p:ph idx="6" type="body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16"/>
          <p:cNvSpPr/>
          <p:nvPr>
            <p:ph idx="7" type="body"/>
          </p:nvPr>
        </p:nvSpPr>
        <p:spPr>
          <a:xfrm>
            <a:off x="2593517" y="4358152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16"/>
          <p:cNvSpPr txBox="1"/>
          <p:nvPr>
            <p:ph idx="8" type="body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16"/>
          <p:cNvSpPr/>
          <p:nvPr>
            <p:ph idx="9" type="body"/>
          </p:nvPr>
        </p:nvSpPr>
        <p:spPr>
          <a:xfrm>
            <a:off x="7080402" y="4358152"/>
            <a:ext cx="2526079" cy="1476687"/>
          </a:xfrm>
          <a:prstGeom prst="roundRect">
            <a:avLst>
              <a:gd fmla="val 1588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b="1" sz="16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16"/>
          <p:cNvSpPr txBox="1"/>
          <p:nvPr>
            <p:ph idx="13" type="body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емо_1">
  <p:cSld name="Демо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/>
          <p:nvPr>
            <p:ph idx="2" type="pic"/>
          </p:nvPr>
        </p:nvSpPr>
        <p:spPr>
          <a:xfrm>
            <a:off x="4162940" y="1264478"/>
            <a:ext cx="3866121" cy="2436377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17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7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7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4" name="Google Shape;164;p17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346075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17"/>
          <p:cNvSpPr txBox="1"/>
          <p:nvPr>
            <p:ph idx="3" type="body"/>
          </p:nvPr>
        </p:nvSpPr>
        <p:spPr>
          <a:xfrm>
            <a:off x="4240502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17"/>
          <p:cNvSpPr txBox="1"/>
          <p:nvPr>
            <p:ph idx="4" type="body"/>
          </p:nvPr>
        </p:nvSpPr>
        <p:spPr>
          <a:xfrm>
            <a:off x="8230203" y="4656083"/>
            <a:ext cx="3626835" cy="1544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Демо_1">
  <p:cSld name="1_Демо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 flipH="1" rot="10800000">
            <a:off x="0" y="4324414"/>
            <a:ext cx="5330956" cy="678504"/>
          </a:xfrm>
          <a:prstGeom prst="rect">
            <a:avLst/>
          </a:prstGeom>
          <a:solidFill>
            <a:schemeClr val="lt1">
              <a:alpha val="901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18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8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3" name="Google Shape;173;p18"/>
          <p:cNvSpPr txBox="1"/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1210643" y="4324451"/>
            <a:ext cx="4121687" cy="161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18"/>
          <p:cNvSpPr txBox="1"/>
          <p:nvPr>
            <p:ph idx="2" type="body"/>
          </p:nvPr>
        </p:nvSpPr>
        <p:spPr>
          <a:xfrm>
            <a:off x="6857950" y="4324451"/>
            <a:ext cx="4121687" cy="161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18"/>
          <p:cNvSpPr/>
          <p:nvPr>
            <p:ph idx="3" type="pic"/>
          </p:nvPr>
        </p:nvSpPr>
        <p:spPr>
          <a:xfrm>
            <a:off x="1210642" y="1577998"/>
            <a:ext cx="4121688" cy="2283975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18"/>
          <p:cNvSpPr/>
          <p:nvPr>
            <p:ph idx="4" type="pic"/>
          </p:nvPr>
        </p:nvSpPr>
        <p:spPr>
          <a:xfrm>
            <a:off x="6855540" y="1577998"/>
            <a:ext cx="4121688" cy="2283975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18"/>
          <p:cNvSpPr/>
          <p:nvPr/>
        </p:nvSpPr>
        <p:spPr>
          <a:xfrm flipH="1" rot="10800000">
            <a:off x="6862163" y="4324414"/>
            <a:ext cx="5330956" cy="678504"/>
          </a:xfrm>
          <a:prstGeom prst="rect">
            <a:avLst/>
          </a:prstGeom>
          <a:solidFill>
            <a:schemeClr val="lt1">
              <a:alpha val="901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Демо_1">
  <p:cSld name="2_Демо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/>
          <p:nvPr>
            <p:ph idx="2" type="pic"/>
          </p:nvPr>
        </p:nvSpPr>
        <p:spPr>
          <a:xfrm>
            <a:off x="5009872" y="1235915"/>
            <a:ext cx="2172255" cy="4602697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81" name="Google Shape;181;p19"/>
          <p:cNvSpPr/>
          <p:nvPr>
            <p:ph idx="1" type="body"/>
          </p:nvPr>
        </p:nvSpPr>
        <p:spPr>
          <a:xfrm>
            <a:off x="356349" y="1641283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b="1" sz="1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19"/>
          <p:cNvSpPr txBox="1"/>
          <p:nvPr>
            <p:ph idx="3" type="body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19"/>
          <p:cNvSpPr/>
          <p:nvPr>
            <p:ph idx="4" type="body"/>
          </p:nvPr>
        </p:nvSpPr>
        <p:spPr>
          <a:xfrm>
            <a:off x="8040021" y="1641283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E5D2F9"/>
              </a:buClr>
              <a:buSzPts val="1800"/>
              <a:buChar char="•"/>
              <a:defRPr b="1" sz="1800">
                <a:solidFill>
                  <a:srgbClr val="E5D2F9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19"/>
          <p:cNvSpPr txBox="1"/>
          <p:nvPr>
            <p:ph idx="5" type="body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19"/>
          <p:cNvSpPr/>
          <p:nvPr>
            <p:ph idx="6" type="body"/>
          </p:nvPr>
        </p:nvSpPr>
        <p:spPr>
          <a:xfrm>
            <a:off x="356349" y="3864598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•"/>
              <a:defRPr b="1" sz="1800">
                <a:solidFill>
                  <a:schemeClr val="accent4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19"/>
          <p:cNvSpPr txBox="1"/>
          <p:nvPr>
            <p:ph idx="7" type="body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19"/>
          <p:cNvSpPr/>
          <p:nvPr>
            <p:ph idx="8" type="body"/>
          </p:nvPr>
        </p:nvSpPr>
        <p:spPr>
          <a:xfrm>
            <a:off x="8040021" y="3864598"/>
            <a:ext cx="3812931" cy="1021701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EF1F6">
                  <a:alpha val="20000"/>
                </a:srgbClr>
              </a:gs>
              <a:gs pos="65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 b="1" sz="1800">
                <a:solidFill>
                  <a:schemeClr val="accen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19"/>
          <p:cNvSpPr txBox="1"/>
          <p:nvPr>
            <p:ph idx="9" type="body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Char char="•"/>
              <a:defRPr sz="1400"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89" name="Google Shape;189;p19"/>
          <p:cNvCxnSpPr/>
          <p:nvPr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19"/>
          <p:cNvCxnSpPr/>
          <p:nvPr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19"/>
          <p:cNvCxnSpPr/>
          <p:nvPr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cap="flat" cmpd="sng" w="25400">
            <a:solidFill>
              <a:srgbClr val="E5D2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19"/>
          <p:cNvCxnSpPr/>
          <p:nvPr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19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9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Демо_1">
  <p:cSld name="3_Демо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/>
          <p:nvPr>
            <p:ph idx="2" type="pic"/>
          </p:nvPr>
        </p:nvSpPr>
        <p:spPr>
          <a:xfrm>
            <a:off x="1001460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199" name="Google Shape;199;p20"/>
          <p:cNvSpPr/>
          <p:nvPr>
            <p:ph idx="3" type="pic"/>
          </p:nvPr>
        </p:nvSpPr>
        <p:spPr>
          <a:xfrm>
            <a:off x="3831097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200" name="Google Shape;200;p20"/>
          <p:cNvSpPr/>
          <p:nvPr>
            <p:ph idx="4" type="pic"/>
          </p:nvPr>
        </p:nvSpPr>
        <p:spPr>
          <a:xfrm>
            <a:off x="6660734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201" name="Google Shape;201;p20"/>
          <p:cNvSpPr/>
          <p:nvPr>
            <p:ph idx="5" type="pic"/>
          </p:nvPr>
        </p:nvSpPr>
        <p:spPr>
          <a:xfrm>
            <a:off x="9490368" y="1038224"/>
            <a:ext cx="1726214" cy="3657600"/>
          </a:xfrm>
          <a:prstGeom prst="roundRect">
            <a:avLst>
              <a:gd fmla="val 12528" name="adj"/>
            </a:avLst>
          </a:prstGeom>
          <a:noFill/>
          <a:ln>
            <a:noFill/>
          </a:ln>
        </p:spPr>
      </p:sp>
      <p:sp>
        <p:nvSpPr>
          <p:cNvPr id="202" name="Google Shape;202;p20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0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5" name="Google Shape;205;p20"/>
          <p:cNvSpPr txBox="1"/>
          <p:nvPr>
            <p:ph idx="1" type="body"/>
          </p:nvPr>
        </p:nvSpPr>
        <p:spPr>
          <a:xfrm>
            <a:off x="346076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6" type="body"/>
          </p:nvPr>
        </p:nvSpPr>
        <p:spPr>
          <a:xfrm>
            <a:off x="3269562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20"/>
          <p:cNvSpPr txBox="1"/>
          <p:nvPr>
            <p:ph idx="7" type="body"/>
          </p:nvPr>
        </p:nvSpPr>
        <p:spPr>
          <a:xfrm>
            <a:off x="6193048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20"/>
          <p:cNvSpPr txBox="1"/>
          <p:nvPr>
            <p:ph idx="8" type="body"/>
          </p:nvPr>
        </p:nvSpPr>
        <p:spPr>
          <a:xfrm>
            <a:off x="9116535" y="4929435"/>
            <a:ext cx="2739248" cy="127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idx="1" type="body"/>
          </p:nvPr>
        </p:nvSpPr>
        <p:spPr>
          <a:xfrm>
            <a:off x="315387" y="1016001"/>
            <a:ext cx="5704418" cy="5184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21"/>
          <p:cNvSpPr txBox="1"/>
          <p:nvPr>
            <p:ph idx="2" type="body"/>
          </p:nvPr>
        </p:nvSpPr>
        <p:spPr>
          <a:xfrm>
            <a:off x="6172206" y="1016001"/>
            <a:ext cx="5670473" cy="5184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2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idx="1" type="body"/>
          </p:nvPr>
        </p:nvSpPr>
        <p:spPr>
          <a:xfrm>
            <a:off x="315386" y="1015427"/>
            <a:ext cx="56821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219" name="Google Shape;219;p22"/>
          <p:cNvSpPr txBox="1"/>
          <p:nvPr>
            <p:ph idx="2" type="body"/>
          </p:nvPr>
        </p:nvSpPr>
        <p:spPr>
          <a:xfrm>
            <a:off x="349334" y="1598615"/>
            <a:ext cx="5648250" cy="46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3" type="body"/>
          </p:nvPr>
        </p:nvSpPr>
        <p:spPr>
          <a:xfrm>
            <a:off x="6172205" y="1015427"/>
            <a:ext cx="56848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b="1"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None/>
              <a:defRPr b="1" sz="1266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None/>
              <a:defRPr b="1" sz="1141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013"/>
              <a:buNone/>
              <a:defRPr b="1" sz="1013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9pPr>
          </a:lstStyle>
          <a:p/>
        </p:txBody>
      </p:sp>
      <p:sp>
        <p:nvSpPr>
          <p:cNvPr id="221" name="Google Shape;221;p22"/>
          <p:cNvSpPr txBox="1"/>
          <p:nvPr>
            <p:ph idx="4" type="body"/>
          </p:nvPr>
        </p:nvSpPr>
        <p:spPr>
          <a:xfrm>
            <a:off x="6172202" y="1598615"/>
            <a:ext cx="5670473" cy="460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5" name="Google Shape;225;p22"/>
          <p:cNvSpPr txBox="1"/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 txBox="1"/>
          <p:nvPr>
            <p:ph type="title"/>
          </p:nvPr>
        </p:nvSpPr>
        <p:spPr>
          <a:xfrm>
            <a:off x="334966" y="1015999"/>
            <a:ext cx="4437062" cy="12134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Montserrat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183194" y="1015999"/>
            <a:ext cx="6673847" cy="5049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1185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773"/>
              <a:buChar char="•"/>
              <a:defRPr sz="1773"/>
            </a:lvl1pPr>
            <a:lvl2pPr indent="-325119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520"/>
              <a:buChar char="•"/>
              <a:defRPr sz="1520"/>
            </a:lvl2pPr>
            <a:lvl3pPr indent="-308991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66"/>
              <a:buChar char="•"/>
              <a:defRPr sz="1266"/>
            </a:lvl3pPr>
            <a:lvl4pPr indent="-301053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4pPr>
            <a:lvl5pPr indent="-301053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141"/>
              <a:buChar char="•"/>
              <a:defRPr sz="1141"/>
            </a:lvl5pPr>
            <a:lvl6pPr indent="-308991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6pPr>
            <a:lvl7pPr indent="-308991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7pPr>
            <a:lvl8pPr indent="-30899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8pPr>
            <a:lvl9pPr indent="-30899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266"/>
              <a:buChar char="•"/>
              <a:defRPr sz="1266"/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334966" y="2428239"/>
            <a:ext cx="4437062" cy="363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886"/>
              <a:buNone/>
              <a:defRPr sz="885"/>
            </a:lvl2pPr>
            <a:lvl3pPr indent="-228600" lvl="2" marL="1371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760"/>
              <a:buNone/>
              <a:defRPr sz="760"/>
            </a:lvl3pPr>
            <a:lvl4pPr indent="-228600" lvl="3" marL="1828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4pPr>
            <a:lvl5pPr indent="-228600" lvl="4" marL="22860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631"/>
              <a:buNone/>
              <a:defRPr sz="631"/>
            </a:lvl5pPr>
            <a:lvl6pPr indent="-228600" lvl="5" marL="27432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6pPr>
            <a:lvl7pPr indent="-228600" lvl="6" marL="32004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7pPr>
            <a:lvl8pPr indent="-228600" lvl="7" marL="36576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8pPr>
            <a:lvl9pPr indent="-228600" lvl="8" marL="411480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631"/>
              <a:buNone/>
              <a:defRPr sz="631"/>
            </a:lvl9pPr>
          </a:lstStyle>
          <a:p/>
        </p:txBody>
      </p:sp>
      <p:sp>
        <p:nvSpPr>
          <p:cNvPr id="234" name="Google Shape;234;p24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24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60">
                <a:solidFill>
                  <a:srgbClr val="F2F2F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24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>
  <p:cSld name="Пустой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  <a:defRPr b="1" i="0" sz="1995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802" lvl="0" marL="457200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rgbClr val="F2F2F2"/>
              </a:buClr>
              <a:buSzPts val="1452"/>
              <a:buFont typeface="Arial"/>
              <a:buChar char="•"/>
              <a:defRPr b="0" i="0" sz="1452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9308" lvl="1" marL="9144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1271"/>
              <a:buFont typeface="Arial"/>
              <a:buChar char="•"/>
              <a:defRPr b="0" i="0" sz="1271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1909" lvl="2" marL="13716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97"/>
              <a:buFont typeface="Arial"/>
              <a:buChar char="•"/>
              <a:defRPr b="0" i="0" sz="99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6194" lvl="3" marL="18288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6194" lvl="4" marL="22860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rgbClr val="F2F2F2"/>
              </a:buClr>
              <a:buSzPts val="907"/>
              <a:buFont typeface="Arial"/>
              <a:buChar char="•"/>
              <a:defRPr b="0" i="0" sz="907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1053" lvl="5" marL="27432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1053" lvl="6" marL="32004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1053" lvl="7" marL="36576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1053" lvl="8" marL="4114800" marR="0" rtl="0" algn="l">
              <a:lnSpc>
                <a:spcPct val="90000"/>
              </a:lnSpc>
              <a:spcBef>
                <a:spcPts val="317"/>
              </a:spcBef>
              <a:spcAft>
                <a:spcPts val="0"/>
              </a:spcAft>
              <a:buClr>
                <a:schemeClr val="dk1"/>
              </a:buClr>
              <a:buSzPts val="1141"/>
              <a:buFont typeface="Arial"/>
              <a:buChar char="•"/>
              <a:defRPr b="0" i="0" sz="1141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6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156">
          <p15:clr>
            <a:srgbClr val="F26B43"/>
          </p15:clr>
        </p15:guide>
        <p15:guide id="2" orient="horz" pos="482">
          <p15:clr>
            <a:srgbClr val="F26B43"/>
          </p15:clr>
        </p15:guide>
        <p15:guide id="3" pos="218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249">
          <p15:clr>
            <a:srgbClr val="F26B43"/>
          </p15:clr>
        </p15:guide>
        <p15:guide id="6" orient="horz" pos="4042">
          <p15:clr>
            <a:srgbClr val="F26B43"/>
          </p15:clr>
        </p15:guide>
        <p15:guide id="7" orient="horz" pos="3906">
          <p15:clr>
            <a:srgbClr val="F26B43"/>
          </p15:clr>
        </p15:guide>
        <p15:guide id="8" orient="horz" pos="640">
          <p15:clr>
            <a:srgbClr val="F26B43"/>
          </p15:clr>
        </p15:guide>
        <p15:guide id="9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jpg"/><Relationship Id="rId5" Type="http://schemas.openxmlformats.org/officeDocument/2006/relationships/image" Target="../media/image2.jpg"/><Relationship Id="rId6" Type="http://schemas.openxmlformats.org/officeDocument/2006/relationships/image" Target="../media/image17.jpg"/><Relationship Id="rId7" Type="http://schemas.openxmlformats.org/officeDocument/2006/relationships/image" Target="../media/image4.jp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/>
          <p:nvPr/>
        </p:nvSpPr>
        <p:spPr>
          <a:xfrm>
            <a:off x="811459" y="2177105"/>
            <a:ext cx="5744056" cy="1558359"/>
          </a:xfrm>
          <a:prstGeom prst="snip1Rect">
            <a:avLst>
              <a:gd fmla="val 16667" name="adj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6666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6"/>
          <p:cNvSpPr txBox="1"/>
          <p:nvPr>
            <p:ph type="ctrTitle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712788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97"/>
              <a:buNone/>
            </a:pPr>
            <a:r>
              <a:rPr lang="ru-RU"/>
              <a:t>bestbmstu</a:t>
            </a:r>
            <a:endParaRPr/>
          </a:p>
        </p:txBody>
      </p:sp>
      <p:sp>
        <p:nvSpPr>
          <p:cNvPr id="244" name="Google Shape;244;p26"/>
          <p:cNvSpPr txBox="1"/>
          <p:nvPr>
            <p:ph idx="1" type="body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712788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SzPts val="1452"/>
              <a:buNone/>
            </a:pPr>
            <a:r>
              <a:rPr lang="ru-RU"/>
              <a:t>Задача 09. Сервис извлечения и индексирования информации из образов архивных документов (Ретроконверсия)</a:t>
            </a:r>
            <a:endParaRPr/>
          </a:p>
        </p:txBody>
      </p:sp>
      <p:pic>
        <p:nvPicPr>
          <p:cNvPr descr="Изображение выглядит как текст, Шрифт, Графика, графический дизайн&#10;&#10;Содержимое, созданное искусственным интеллектом, может быть неверным." id="245" name="Google Shape;2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1955" y="2352174"/>
            <a:ext cx="2363064" cy="1214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"/>
          <p:cNvSpPr/>
          <p:nvPr/>
        </p:nvSpPr>
        <p:spPr>
          <a:xfrm>
            <a:off x="6112982" y="1016000"/>
            <a:ext cx="5744100" cy="2412900"/>
          </a:xfrm>
          <a:prstGeom prst="snip1Rect">
            <a:avLst>
              <a:gd fmla="val 16667" name="adj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6274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2" name="Google Shape;252;p2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695" l="0" r="0" t="3696"/>
          <a:stretch/>
        </p:blipFill>
        <p:spPr>
          <a:xfrm>
            <a:off x="6955570" y="1189129"/>
            <a:ext cx="3847059" cy="206664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7"/>
          <p:cNvSpPr/>
          <p:nvPr/>
        </p:nvSpPr>
        <p:spPr>
          <a:xfrm>
            <a:off x="371225" y="2798951"/>
            <a:ext cx="5227500" cy="1179900"/>
          </a:xfrm>
          <a:prstGeom prst="snip2DiagRect">
            <a:avLst>
              <a:gd fmla="val 0" name="adj1"/>
              <a:gd fmla="val 7966" name="adj2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6274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27"/>
          <p:cNvSpPr txBox="1"/>
          <p:nvPr/>
        </p:nvSpPr>
        <p:spPr>
          <a:xfrm>
            <a:off x="371275" y="3166200"/>
            <a:ext cx="52275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514"/>
              <a:buFont typeface="Arial"/>
              <a:buNone/>
            </a:pPr>
            <a:r>
              <a:rPr b="0" i="0" lang="ru-RU" sz="1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Сервис извлечения и индексирования информации из образов архивных документов (Ретроконверсия)</a:t>
            </a:r>
            <a:endParaRPr b="0" i="0" sz="1400" u="none" cap="none" strike="noStrike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27"/>
          <p:cNvSpPr txBox="1"/>
          <p:nvPr/>
        </p:nvSpPr>
        <p:spPr>
          <a:xfrm>
            <a:off x="1558364" y="2812211"/>
            <a:ext cx="299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Наименование задачи: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371264" y="4142053"/>
            <a:ext cx="5364300" cy="1864500"/>
          </a:xfrm>
          <a:prstGeom prst="snip2DiagRect">
            <a:avLst>
              <a:gd fmla="val 0" name="adj1"/>
              <a:gd fmla="val 5972" name="adj2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6274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371275" y="4445000"/>
            <a:ext cx="5364300" cy="15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Сделали end-to-end ML-пайплайн на базе Transformer-архитектуры TrOCR с </a:t>
            </a:r>
            <a:r>
              <a:rPr lang="ru-RU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многошаговой</a:t>
            </a:r>
            <a:r>
              <a:rPr b="0" i="0" lang="ru-RU" sz="1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 обработкой: предобработка изображений (</a:t>
            </a:r>
            <a:r>
              <a:rPr lang="ru-RU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контраст, блюр, резкость, бинаризация, dewarping</a:t>
            </a:r>
            <a:r>
              <a:rPr b="0" i="0" lang="ru-RU" sz="1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), автоматическая сегментация на текстовые строки методом горизонтальной проекции, распознавание текста с помощью </a:t>
            </a:r>
            <a:r>
              <a:rPr lang="ru-RU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fine-tune</a:t>
            </a:r>
            <a:r>
              <a:rPr b="0" i="0" lang="ru-RU" sz="1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  модели для кириллицы.</a:t>
            </a:r>
            <a:endParaRPr b="0" i="0" sz="1400" u="none" cap="none" strike="noStrike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1489914" y="4142038"/>
            <a:ext cx="299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решения: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6096000" y="3619075"/>
            <a:ext cx="5566200" cy="2412900"/>
          </a:xfrm>
          <a:prstGeom prst="snip2DiagRect">
            <a:avLst>
              <a:gd fmla="val 0" name="adj1"/>
              <a:gd fmla="val 5972" name="adj2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6274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6112975" y="4142050"/>
            <a:ext cx="5566200" cy="18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514"/>
              <a:buFont typeface="Noto Sans Symbols"/>
              <a:buNone/>
            </a:pPr>
            <a:r>
              <a:rPr b="0" i="0" lang="ru-RU" sz="1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Планируется повышать качество модели за счет увеличения обучающей выборки и аугментации изображений (StackMix, Blot Augmentations).</a:t>
            </a:r>
            <a:endParaRPr b="0" i="0" sz="1400" u="none" cap="none" strike="noStrike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514"/>
              <a:buFont typeface="Noto Sans Symbols"/>
              <a:buNone/>
            </a:pPr>
            <a:r>
              <a:rPr b="0" i="0" lang="ru-RU" sz="1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 Разработка RAG-системы для поиска по распознанным документам с использованием векторной БД. </a:t>
            </a:r>
            <a:endParaRPr b="0" i="0" sz="1400" u="none" cap="none" strike="noStrike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27"/>
          <p:cNvSpPr txBox="1"/>
          <p:nvPr/>
        </p:nvSpPr>
        <p:spPr>
          <a:xfrm>
            <a:off x="6083346" y="3619071"/>
            <a:ext cx="56298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Как вы планируете дальше использовать </a:t>
            </a:r>
            <a:br>
              <a:rPr b="1" i="0" lang="ru-RU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ru-RU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или развивать ваше решение: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371225" y="1028025"/>
            <a:ext cx="5154900" cy="1482900"/>
          </a:xfrm>
          <a:prstGeom prst="snip2DiagRect">
            <a:avLst>
              <a:gd fmla="val 0" name="adj1"/>
              <a:gd fmla="val 7966" name="adj2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6274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371275" y="1495850"/>
            <a:ext cx="5154900" cy="1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0" i="0" lang="ru-RU" sz="1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Город: Москва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688" lvl="0" marL="144688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0" i="0" lang="ru-RU" sz="1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Количество человек: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44688" lvl="0" marL="144688" marR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b="0" i="0" lang="ru-RU" sz="1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Капитан команды: Дергалов Никита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7"/>
          <p:cNvSpPr txBox="1"/>
          <p:nvPr/>
        </p:nvSpPr>
        <p:spPr>
          <a:xfrm>
            <a:off x="1558339" y="1028014"/>
            <a:ext cx="299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О команде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Изображение выглядит как текст, Шрифт, Графика, графический дизайн&#10;&#10;Содержимое, созданное искусственным интеллектом, может быть неверным." id="265" name="Google Shape;26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4724" y="6160668"/>
            <a:ext cx="996080" cy="512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7"/>
          <p:cNvSpPr txBox="1"/>
          <p:nvPr/>
        </p:nvSpPr>
        <p:spPr>
          <a:xfrm>
            <a:off x="371225" y="442744"/>
            <a:ext cx="10953900" cy="4609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995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| bestbmstu</a:t>
            </a:r>
            <a:endParaRPr b="1" i="0" sz="1995" u="none" cap="none" strike="noStrike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8"/>
          <p:cNvSpPr/>
          <p:nvPr/>
        </p:nvSpPr>
        <p:spPr>
          <a:xfrm>
            <a:off x="1806802" y="3500875"/>
            <a:ext cx="1980155" cy="2379016"/>
          </a:xfrm>
          <a:prstGeom prst="snip2DiagRect">
            <a:avLst>
              <a:gd fmla="val 0" name="adj1"/>
              <a:gd fmla="val 7966" name="adj2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5882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Дергалов Никита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4008302" y="3500875"/>
            <a:ext cx="1980155" cy="2379016"/>
          </a:xfrm>
          <a:prstGeom prst="snip2DiagRect">
            <a:avLst>
              <a:gd fmla="val 0" name="adj1"/>
              <a:gd fmla="val 7966" name="adj2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5882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Вохрамеев Михаил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6209802" y="3500875"/>
            <a:ext cx="2201499" cy="2379016"/>
          </a:xfrm>
          <a:prstGeom prst="snip2DiagRect">
            <a:avLst>
              <a:gd fmla="val 0" name="adj1"/>
              <a:gd fmla="val 7966" name="adj2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5882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Каракешишян Дмитрий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8589884" y="3500875"/>
            <a:ext cx="1980155" cy="2379016"/>
          </a:xfrm>
          <a:prstGeom prst="snip2DiagRect">
            <a:avLst>
              <a:gd fmla="val 0" name="adj1"/>
              <a:gd fmla="val 7966" name="adj2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5882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Романов Дмитрий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8589883" y="1371674"/>
            <a:ext cx="1980155" cy="1814617"/>
          </a:xfrm>
          <a:prstGeom prst="snip1Rect">
            <a:avLst>
              <a:gd fmla="val 16667" name="adj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5882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6209802" y="1371674"/>
            <a:ext cx="1980155" cy="1814617"/>
          </a:xfrm>
          <a:prstGeom prst="snip1Rect">
            <a:avLst>
              <a:gd fmla="val 16667" name="adj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5882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1806802" y="1371674"/>
            <a:ext cx="1980155" cy="1814617"/>
          </a:xfrm>
          <a:prstGeom prst="snip1Rect">
            <a:avLst>
              <a:gd fmla="val 16667" name="adj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5882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4008302" y="1371674"/>
            <a:ext cx="1980155" cy="1814617"/>
          </a:xfrm>
          <a:prstGeom prst="snip1Rect">
            <a:avLst>
              <a:gd fmla="val 16667" name="adj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5882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28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81" name="Google Shape;281;p28" title="photo_2025-10-02 21.41.18.jpe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16285" l="0" r="0" t="16278"/>
          <a:stretch/>
        </p:blipFill>
        <p:spPr>
          <a:xfrm>
            <a:off x="2007289" y="1561083"/>
            <a:ext cx="1536171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 title="photo_2025-10-02 21.41.22.jpeg"/>
          <p:cNvPicPr preferRelativeResize="0"/>
          <p:nvPr>
            <p:ph idx="3" type="pic"/>
          </p:nvPr>
        </p:nvPicPr>
        <p:blipFill rotWithShape="1">
          <a:blip r:embed="rId5">
            <a:alphaModFix/>
          </a:blip>
          <a:srcRect b="28429" l="18479" r="18481" t="7506"/>
          <a:stretch/>
        </p:blipFill>
        <p:spPr>
          <a:xfrm>
            <a:off x="4279567" y="1539656"/>
            <a:ext cx="1454997" cy="1478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8" title="dima.jpg"/>
          <p:cNvPicPr preferRelativeResize="0"/>
          <p:nvPr>
            <p:ph idx="4" type="pic"/>
          </p:nvPr>
        </p:nvPicPr>
        <p:blipFill rotWithShape="1">
          <a:blip r:embed="rId6">
            <a:alphaModFix/>
          </a:blip>
          <a:srcRect b="13564" l="0" r="0" t="13573"/>
          <a:stretch/>
        </p:blipFill>
        <p:spPr>
          <a:xfrm>
            <a:off x="6403882" y="1561083"/>
            <a:ext cx="1536171" cy="1440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8" title="9-2.jpg"/>
          <p:cNvPicPr preferRelativeResize="0"/>
          <p:nvPr>
            <p:ph idx="5" type="pic"/>
          </p:nvPr>
        </p:nvPicPr>
        <p:blipFill rotWithShape="1">
          <a:blip r:embed="rId7">
            <a:alphaModFix/>
          </a:blip>
          <a:srcRect b="14827" l="0" r="0" t="14834"/>
          <a:stretch/>
        </p:blipFill>
        <p:spPr>
          <a:xfrm>
            <a:off x="8744762" y="1551346"/>
            <a:ext cx="1536171" cy="144016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8"/>
          <p:cNvSpPr txBox="1"/>
          <p:nvPr>
            <p:ph type="title"/>
          </p:nvPr>
        </p:nvSpPr>
        <p:spPr>
          <a:xfrm>
            <a:off x="371214" y="449787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Команда | bestbmstu</a:t>
            </a:r>
            <a:endParaRPr/>
          </a:p>
        </p:txBody>
      </p:sp>
      <p:sp>
        <p:nvSpPr>
          <p:cNvPr id="286" name="Google Shape;286;p28"/>
          <p:cNvSpPr txBox="1"/>
          <p:nvPr>
            <p:ph idx="1" type="body"/>
          </p:nvPr>
        </p:nvSpPr>
        <p:spPr>
          <a:xfrm>
            <a:off x="1875088" y="4303393"/>
            <a:ext cx="1843581" cy="122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ru-RU"/>
              <a:t>Backend-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  developer</a:t>
            </a:r>
            <a:endParaRPr/>
          </a:p>
          <a:p>
            <a:pPr indent="-144688" lvl="0" marL="144688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ru-RU"/>
              <a:t>@alnevski</a:t>
            </a:r>
            <a:endParaRPr/>
          </a:p>
          <a:p>
            <a:pPr indent="-144688" lvl="0" marL="144688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ru-RU"/>
              <a:t>89153982731</a:t>
            </a:r>
            <a:endParaRPr/>
          </a:p>
        </p:txBody>
      </p:sp>
      <p:sp>
        <p:nvSpPr>
          <p:cNvPr id="287" name="Google Shape;287;p28"/>
          <p:cNvSpPr txBox="1"/>
          <p:nvPr>
            <p:ph idx="2" type="body"/>
          </p:nvPr>
        </p:nvSpPr>
        <p:spPr>
          <a:xfrm>
            <a:off x="4085276" y="4303393"/>
            <a:ext cx="1843581" cy="157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lang="ru-RU"/>
              <a:t>Data Scientist</a:t>
            </a:r>
            <a:endParaRPr/>
          </a:p>
          <a:p>
            <a:pPr indent="-144688" lvl="0" marL="144688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lang="ru-RU"/>
              <a:t>@aft3rlyfe</a:t>
            </a:r>
            <a:endParaRPr/>
          </a:p>
          <a:p>
            <a:pPr indent="-144688" lvl="0" marL="144688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</a:pPr>
            <a:r>
              <a:rPr lang="ru-RU"/>
              <a:t>89292000591</a:t>
            </a:r>
            <a:endParaRPr/>
          </a:p>
          <a:p>
            <a:pPr indent="-55785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88" name="Google Shape;288;p28"/>
          <p:cNvSpPr txBox="1"/>
          <p:nvPr>
            <p:ph idx="3" type="body"/>
          </p:nvPr>
        </p:nvSpPr>
        <p:spPr>
          <a:xfrm>
            <a:off x="6367375" y="4254493"/>
            <a:ext cx="18435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ru-RU"/>
              <a:t>Frontend-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  developer</a:t>
            </a:r>
            <a:endParaRPr/>
          </a:p>
          <a:p>
            <a:pPr indent="-144688" lvl="0" marL="1446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ru-RU"/>
              <a:t>@YanKadi2345</a:t>
            </a:r>
            <a:endParaRPr/>
          </a:p>
          <a:p>
            <a:pPr indent="-144688" lvl="0" marL="144688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SzPts val="1400"/>
              <a:buChar char="▪"/>
            </a:pPr>
            <a:r>
              <a:rPr lang="ru-RU"/>
              <a:t>89299927472</a:t>
            </a:r>
            <a:endParaRPr/>
          </a:p>
          <a:p>
            <a:pPr indent="-55785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>
            <p:ph idx="4" type="body"/>
          </p:nvPr>
        </p:nvSpPr>
        <p:spPr>
          <a:xfrm>
            <a:off x="8632652" y="4254493"/>
            <a:ext cx="18435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4688" lvl="0" marL="144688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SzPts val="1400"/>
              <a:buChar char="▪"/>
            </a:pPr>
            <a:r>
              <a:rPr lang="ru-RU"/>
              <a:t>Data Scientist</a:t>
            </a:r>
            <a:endParaRPr/>
          </a:p>
          <a:p>
            <a:pPr indent="-144688" lvl="0" marL="144688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SzPts val="1400"/>
              <a:buChar char="▪"/>
            </a:pPr>
            <a:r>
              <a:rPr lang="ru-RU"/>
              <a:t>@ddmtrx</a:t>
            </a:r>
            <a:endParaRPr/>
          </a:p>
          <a:p>
            <a:pPr indent="-144688" lvl="0" marL="144688" rtl="0" algn="l">
              <a:lnSpc>
                <a:spcPct val="100000"/>
              </a:lnSpc>
              <a:spcBef>
                <a:spcPts val="631"/>
              </a:spcBef>
              <a:spcAft>
                <a:spcPts val="0"/>
              </a:spcAft>
              <a:buSzPts val="1400"/>
              <a:buChar char="▪"/>
            </a:pPr>
            <a:r>
              <a:rPr lang="ru-RU"/>
              <a:t>89252048839</a:t>
            </a:r>
            <a:endParaRPr/>
          </a:p>
          <a:p>
            <a:pPr indent="-55787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</a:pPr>
            <a:r>
              <a:t/>
            </a:r>
            <a:endParaRPr/>
          </a:p>
          <a:p>
            <a:pPr indent="-55785" lvl="0" marL="144688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descr="Изображение выглядит как текст, Шрифт, Графика, графический дизайн&#10;&#10;Содержимое, созданное искусственным интеллектом, может быть неверным." id="290" name="Google Shape;290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74724" y="6160668"/>
            <a:ext cx="996080" cy="512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7" name="Google Shape;297;p29"/>
          <p:cNvSpPr txBox="1"/>
          <p:nvPr>
            <p:ph type="title"/>
          </p:nvPr>
        </p:nvSpPr>
        <p:spPr>
          <a:xfrm>
            <a:off x="371214" y="449787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rPr lang="ru-RU"/>
              <a:t>Команда | bestbmstu</a:t>
            </a:r>
            <a:endParaRPr/>
          </a:p>
        </p:txBody>
      </p:sp>
      <p:sp>
        <p:nvSpPr>
          <p:cNvPr id="298" name="Google Shape;298;p29"/>
          <p:cNvSpPr/>
          <p:nvPr/>
        </p:nvSpPr>
        <p:spPr>
          <a:xfrm>
            <a:off x="371214" y="1016000"/>
            <a:ext cx="5364424" cy="2581700"/>
          </a:xfrm>
          <a:prstGeom prst="snip2DiagRect">
            <a:avLst>
              <a:gd fmla="val 0" name="adj1"/>
              <a:gd fmla="val 7966" name="adj2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5882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29"/>
          <p:cNvSpPr txBox="1"/>
          <p:nvPr>
            <p:ph idx="1" type="body"/>
          </p:nvPr>
        </p:nvSpPr>
        <p:spPr>
          <a:xfrm>
            <a:off x="371225" y="1503500"/>
            <a:ext cx="5364300" cy="20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Команда состоит из группы студентов МГТУ им. Баумана кафедры ИУ6 “Системы искусственного интеллекта».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За три года обучения мы глубоко погрузились в машинное обучение, регулярно участвуем в соревнованиях по ML и тестируем передовые SOTA-подходы в реальных проектах.</a:t>
            </a:r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1558289" y="1072045"/>
            <a:ext cx="299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Краткая история команды: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371214" y="3936163"/>
            <a:ext cx="11485824" cy="2264611"/>
          </a:xfrm>
          <a:prstGeom prst="snip2DiagRect">
            <a:avLst>
              <a:gd fmla="val 0" name="adj1"/>
              <a:gd fmla="val 5972" name="adj2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5882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29"/>
          <p:cNvSpPr txBox="1"/>
          <p:nvPr/>
        </p:nvSpPr>
        <p:spPr>
          <a:xfrm>
            <a:off x="371225" y="4628175"/>
            <a:ext cx="11485800" cy="13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	Главный сложность – валидная адаптация предобученных моделей к специфике дореволюционных текстов с устаревшей орфографией. Мы потратили значительное время на fine-tuning TrOCR модели и реализацию pipeline предобработки изображений.</a:t>
            </a:r>
            <a:endParaRPr b="0" i="0" sz="1400" u="none" cap="none" strike="noStrike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	Благодаря модульной архитектуре удалось быстро итерироваться и интегрировать backend с frontend без технических конфликтов.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9"/>
          <p:cNvSpPr txBox="1"/>
          <p:nvPr/>
        </p:nvSpPr>
        <p:spPr>
          <a:xfrm>
            <a:off x="371225" y="3967725"/>
            <a:ext cx="114858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С какими основными сложностями или вызовами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вы столкнулись и как их преодолели?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6096000" y="1016000"/>
            <a:ext cx="5761038" cy="2581700"/>
          </a:xfrm>
          <a:prstGeom prst="snip2DiagRect">
            <a:avLst>
              <a:gd fmla="val 0" name="adj1"/>
              <a:gd fmla="val 5972" name="adj2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chemeClr val="lt1">
                <a:alpha val="45882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29"/>
          <p:cNvSpPr txBox="1"/>
          <p:nvPr/>
        </p:nvSpPr>
        <p:spPr>
          <a:xfrm>
            <a:off x="6163500" y="1685200"/>
            <a:ext cx="5693400" cy="19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Задача цифровизации архивов идеально совпала с нашей специализацией в области Computer Vision.</a:t>
            </a:r>
            <a:endParaRPr b="0" i="0" sz="1400" u="none" cap="none" strike="noStrike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0" i="0" lang="ru-RU" sz="1400" u="none" cap="none" strike="noStrike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 Проблема распознавания рукописных документов актуальна для культурного наследия России и требует применения современных методов Deep Learning.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9"/>
          <p:cNvSpPr txBox="1"/>
          <p:nvPr/>
        </p:nvSpPr>
        <p:spPr>
          <a:xfrm>
            <a:off x="6161596" y="1072045"/>
            <a:ext cx="56298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</a:pPr>
            <a:r>
              <a:rPr b="1" i="0" lang="ru-RU" sz="14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Почему вы выбрали именно эту задачу из предложенных на хакатоне?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Изображение выглядит как текст, Шрифт, Графика, графический дизайн&#10;&#10;Содержимое, созданное искусственным интеллектом, может быть неверным." id="307" name="Google Shape;30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4724" y="6160668"/>
            <a:ext cx="996080" cy="512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3" name="Google Shape;313;p30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lang="ru-RU"/>
              <a:t>Актуальность решения | bestbmstu</a:t>
            </a:r>
            <a:endParaRPr/>
          </a:p>
        </p:txBody>
      </p:sp>
      <p:sp>
        <p:nvSpPr>
          <p:cNvPr id="314" name="Google Shape;314;p30"/>
          <p:cNvSpPr/>
          <p:nvPr/>
        </p:nvSpPr>
        <p:spPr>
          <a:xfrm>
            <a:off x="346075" y="1644326"/>
            <a:ext cx="5749800" cy="4003500"/>
          </a:xfrm>
          <a:prstGeom prst="snip2DiagRect">
            <a:avLst>
              <a:gd fmla="val 0" name="adj1"/>
              <a:gd fmla="val 5972" name="adj2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 России хранятся миллионы рукописных архивных документов XVIII-XX веков, которые требуют цифровизации для обеспечения долгосрочного сохранения и доступа исследователей. К 2030 году, согласно Стратегии цифровой трансформации,, все государственные документы должны храниться в электронном виде с централизованным хранением для 100% органов власти.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5" name="Google Shape;31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8625" y="1644325"/>
            <a:ext cx="4066800" cy="4066800"/>
          </a:xfrm>
          <a:prstGeom prst="snip2DiagRect">
            <a:avLst>
              <a:gd fmla="val 9469" name="adj1"/>
              <a:gd fmla="val 16667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lang="ru-RU"/>
              <a:t>Реализация | bestbmstu</a:t>
            </a:r>
            <a:endParaRPr/>
          </a:p>
        </p:txBody>
      </p:sp>
      <p:sp>
        <p:nvSpPr>
          <p:cNvPr id="322" name="Google Shape;322;p31"/>
          <p:cNvSpPr/>
          <p:nvPr/>
        </p:nvSpPr>
        <p:spPr>
          <a:xfrm>
            <a:off x="365439" y="1147046"/>
            <a:ext cx="11463888" cy="1468832"/>
          </a:xfrm>
          <a:prstGeom prst="snip2DiagRect">
            <a:avLst>
              <a:gd fmla="val 0" name="adj1"/>
              <a:gd fmla="val 5972" name="adj2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Реализация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Используем модель TrOCR, дообученную на 73830 сегментах рукописных текстов на русском языке</a:t>
            </a:r>
            <a:endParaRPr b="1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934" y="2817855"/>
            <a:ext cx="4630838" cy="3878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7542" y="3077265"/>
            <a:ext cx="4765524" cy="335950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1"/>
          <p:cNvSpPr/>
          <p:nvPr/>
        </p:nvSpPr>
        <p:spPr>
          <a:xfrm>
            <a:off x="5438869" y="4399724"/>
            <a:ext cx="1179576" cy="91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>
              <a:alpha val="0"/>
            </a:scheme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D6E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/>
          <p:cNvSpPr txBox="1"/>
          <p:nvPr>
            <p:ph idx="12" type="sldNum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1" name="Google Shape;331;p32"/>
          <p:cNvSpPr txBox="1"/>
          <p:nvPr>
            <p:ph type="title"/>
          </p:nvPr>
        </p:nvSpPr>
        <p:spPr>
          <a:xfrm>
            <a:off x="346075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lang="ru-RU"/>
              <a:t>Архитектура | bestbmstu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Изображение выглядит как текст, Шрифт, Графика, графический дизайн&#10;&#10;Содержимое, созданное искусственным интеллектом, может быть неверным." id="332" name="Google Shape;33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4724" y="6160668"/>
            <a:ext cx="996080" cy="51201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315392" y="1016177"/>
            <a:ext cx="11561100" cy="5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Frontend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Streamlit UI (`app.py`) - веб-интерфейс для загрузки документов, просмотра и редактирования распознанного текста с возможностью экспорта в различных форматах (JSON, CSV, TXT).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t/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Backend API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FastAPI (`main.py`) - REST API с эндпоинтами для загрузки файлов, запуска распознавания, управления транскрипциями и получения списка документов[4].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t/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ML Pipeline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OCR Engine (`ocr.py`) включает: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- Предобработку изображений (CLAHE, sharpening)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- Разделение разворотов на страницы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- Сегментацию строк (метод проекции с бинаризацией Sauvola)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- Распознавание текста моделью TrOCR (kazars24/trocr-base-handwritten-ru)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623"/>
              <a:buNone/>
            </a:pPr>
            <a:r>
              <a:rPr lang="ru-RU" sz="1560"/>
              <a:t>- Поддержку PDF и изображений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623"/>
              <a:buNone/>
            </a:pPr>
            <a:r>
              <a:t/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База данных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PostgreSQL(`database.py`) с таблицами: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- `files` - метаданные загруженных файлов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- `file_transcripts` - результаты распознавания с метриками WER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rPr lang="ru-RU" sz="1560"/>
              <a:t>- `corrections` -  изменения в расшифровке файла, сделанные пользователем</a:t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t/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t/>
            </a:r>
            <a:endParaRPr sz="156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507"/>
              <a:buFont typeface="Arial"/>
              <a:buNone/>
            </a:pPr>
            <a:r>
              <a:t/>
            </a:r>
            <a:endParaRPr sz="1560"/>
          </a:p>
        </p:txBody>
      </p:sp>
      <p:pic>
        <p:nvPicPr>
          <p:cNvPr id="334" name="Google Shape;33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3950" y="2518275"/>
            <a:ext cx="3557325" cy="35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40" name="Google Shape;340;p33"/>
          <p:cNvSpPr txBox="1"/>
          <p:nvPr>
            <p:ph type="title"/>
          </p:nvPr>
        </p:nvSpPr>
        <p:spPr>
          <a:xfrm>
            <a:off x="346075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Montserrat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lang="ru-RU"/>
              <a:t>Front + Back | bestbmstu</a:t>
            </a:r>
            <a:endParaRPr/>
          </a:p>
        </p:txBody>
      </p:sp>
      <p:pic>
        <p:nvPicPr>
          <p:cNvPr descr="Изображение выглядит как текст, Шрифт, Графика, графический дизайн&#10;&#10;Содержимое, созданное искусственным интеллектом, может быть неверным." id="341" name="Google Shape;34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4724" y="6160668"/>
            <a:ext cx="996080" cy="51201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15392" y="1016177"/>
            <a:ext cx="11561100" cy="5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SzPts val="1100"/>
              <a:buNone/>
            </a:pPr>
            <a:r>
              <a:rPr lang="ru-RU" sz="1400"/>
              <a:t>Front: Интерактивный UI на Streamlit: Позволяет пользователю без технических знаний загружать файлы (в том числе пачками), отслеживать прогресс и сразу видеть результат. Полный цикл в одном окне: Пользователь может загрузить документ, дождаться распознавания, отредактировать текст и экспортировать его в TXT, JSON или CSV, не покидая страницу.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SzPts val="1100"/>
              <a:buNone/>
            </a:pPr>
            <a:r>
              <a:rPr lang="ru-RU" sz="1400"/>
              <a:t>Back:</a:t>
            </a:r>
            <a:r>
              <a:rPr lang="ru-RU" sz="1400"/>
              <a:t>: Асинхронная обработка запросов, что идеально для OCR-задач. Чёткие эндпоинты для всего жизненного цикла документа: от загрузки до редактирования. Интеграция с PostgreSQL через SQLAlchemy для персистентного хранения файлов и их транскрипций, включая историю версий и метрики качества.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452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SzPts val="1452"/>
              <a:buNone/>
            </a:pPr>
            <a:r>
              <a:t/>
            </a:r>
            <a:endParaRPr sz="1400"/>
          </a:p>
        </p:txBody>
      </p:sp>
      <p:pic>
        <p:nvPicPr>
          <p:cNvPr id="343" name="Google Shape;34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3488" y="3520751"/>
            <a:ext cx="4985025" cy="25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 txBox="1"/>
          <p:nvPr>
            <p:ph type="title"/>
          </p:nvPr>
        </p:nvSpPr>
        <p:spPr>
          <a:xfrm>
            <a:off x="346075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lang="ru-RU"/>
              <a:t>ML (TrOCR) | bestbmstu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Изображение выглядит как текст, Шрифт, Графика, графический дизайн&#10;&#10;Содержимое, созданное искусственным интеллектом, может быть неверным." id="349" name="Google Shape;34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4724" y="6160668"/>
            <a:ext cx="996080" cy="51201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4"/>
          <p:cNvSpPr txBox="1"/>
          <p:nvPr>
            <p:ph idx="1" type="body"/>
          </p:nvPr>
        </p:nvSpPr>
        <p:spPr>
          <a:xfrm>
            <a:off x="315400" y="1016176"/>
            <a:ext cx="11561100" cy="3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SzPts val="1100"/>
              <a:buNone/>
            </a:pPr>
            <a:r>
              <a:rPr lang="ru-RU"/>
              <a:t>Фишки сегментации и OCR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SzPts val="1100"/>
              <a:buNone/>
            </a:pPr>
            <a:r>
              <a:rPr lang="ru-RU"/>
              <a:t>Линейная сегментация по проекциям без тяжёлых детекторов; стабильна на разных почерках.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SzPts val="1100"/>
              <a:buNone/>
            </a:pPr>
            <a:r>
              <a:rPr lang="ru-RU"/>
              <a:t>TrOCR (kazars24/trocr-base-handwritten-ru) с beam search для повышения точности.</a:t>
            </a:r>
            <a:endParaRPr/>
          </a:p>
          <a:p>
            <a:pPr indent="457200" lvl="0" marL="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SzPts val="1100"/>
              <a:buNone/>
            </a:pPr>
            <a:r>
              <a:rPr lang="ru-RU"/>
              <a:t>Умная пост-обработка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SzPts val="1100"/>
              <a:buNone/>
            </a:pPr>
            <a:r>
              <a:rPr lang="ru-RU"/>
              <a:t>Нормализация дореформенной орфографии + взвешенная автокоррекция по глоссарию.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SzPts val="1100"/>
              <a:buNone/>
            </a:pPr>
            <a:r>
              <a:rPr lang="ru-RU"/>
              <a:t>Перепроверка кандидатов языковой моделью (KenLM) для более «читаемых» выходов.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SzPts val="1452"/>
              <a:buNone/>
            </a:pPr>
            <a:r>
              <a:t/>
            </a:r>
            <a:endParaRPr/>
          </a:p>
        </p:txBody>
      </p:sp>
      <p:sp>
        <p:nvSpPr>
          <p:cNvPr id="351" name="Google Shape;351;p34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7" name="Google Shape;357;p35"/>
          <p:cNvSpPr txBox="1"/>
          <p:nvPr>
            <p:ph type="title"/>
          </p:nvPr>
        </p:nvSpPr>
        <p:spPr>
          <a:xfrm>
            <a:off x="346075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lang="ru-RU"/>
              <a:t>Интерфейс | bestbmstu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8" name="Google Shape;35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6261" y="1866725"/>
            <a:ext cx="5558639" cy="4489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5"/>
          <p:cNvSpPr txBox="1"/>
          <p:nvPr/>
        </p:nvSpPr>
        <p:spPr>
          <a:xfrm>
            <a:off x="660125" y="1100225"/>
            <a:ext cx="107535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Загрузка файлов — выбор документов (JPG, PNG, PDF) через drag-and-drop</a:t>
            </a:r>
            <a:endParaRPr sz="1452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6"/>
          <p:cNvSpPr txBox="1"/>
          <p:nvPr>
            <p:ph idx="1" type="body"/>
          </p:nvPr>
        </p:nvSpPr>
        <p:spPr>
          <a:xfrm>
            <a:off x="315450" y="1016000"/>
            <a:ext cx="11561100" cy="84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57200" lvl="0" marL="228600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/>
              <a:t>Запуск обработки — кнопка “Расшифровать документы”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6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67" name="Google Shape;367;p36"/>
          <p:cNvSpPr txBox="1"/>
          <p:nvPr>
            <p:ph type="title"/>
          </p:nvPr>
        </p:nvSpPr>
        <p:spPr>
          <a:xfrm>
            <a:off x="346075" y="702401"/>
            <a:ext cx="9862800" cy="376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97"/>
              <a:buFont typeface="Montserrat"/>
              <a:buNone/>
            </a:pPr>
            <a:r>
              <a:rPr lang="ru-RU"/>
              <a:t>Интерфейс | bestbmstu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4750" y="1778550"/>
            <a:ext cx="5642508" cy="46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5450" y="1016000"/>
            <a:ext cx="11561100" cy="76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57200" lvl="0" marL="1828800" rtl="0" algn="just">
              <a:lnSpc>
                <a:spcPct val="150000"/>
              </a:lnSpc>
              <a:spcBef>
                <a:spcPts val="63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/>
              <a:t>Отслеживание прогресса — progress bar с индикацией статуса</a:t>
            </a:r>
            <a:endParaRPr sz="1400"/>
          </a:p>
          <a:p>
            <a:pPr indent="0" lvl="0" marL="0" rtl="0" algn="l">
              <a:spcBef>
                <a:spcPts val="631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7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76" name="Google Shape;3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913" y="2003475"/>
            <a:ext cx="82581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7"/>
          <p:cNvSpPr txBox="1"/>
          <p:nvPr/>
        </p:nvSpPr>
        <p:spPr>
          <a:xfrm>
            <a:off x="324850" y="278600"/>
            <a:ext cx="108216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995">
                <a:solidFill>
                  <a:srgbClr val="F2F2F2"/>
                </a:solidFill>
                <a:latin typeface="Montserrat"/>
                <a:ea typeface="Montserrat"/>
                <a:cs typeface="Montserrat"/>
                <a:sym typeface="Montserrat"/>
              </a:rPr>
              <a:t>Интерфейс | bestbmstu</a:t>
            </a:r>
            <a:endParaRPr b="1" sz="1995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95">
              <a:solidFill>
                <a:srgbClr val="F2F2F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8"/>
          <p:cNvSpPr txBox="1"/>
          <p:nvPr>
            <p:ph idx="1" type="body"/>
          </p:nvPr>
        </p:nvSpPr>
        <p:spPr>
          <a:xfrm>
            <a:off x="315400" y="1780277"/>
            <a:ext cx="11561100" cy="111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31"/>
              </a:spcBef>
              <a:spcAft>
                <a:spcPts val="0"/>
              </a:spcAft>
              <a:buNone/>
            </a:pPr>
            <a:r>
              <a:rPr lang="ru-RU"/>
              <a:t>Статистика сервиса</a:t>
            </a:r>
            <a:endParaRPr/>
          </a:p>
        </p:txBody>
      </p:sp>
      <p:sp>
        <p:nvSpPr>
          <p:cNvPr id="384" name="Google Shape;384;p38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85" name="Google Shape;385;p38"/>
          <p:cNvSpPr txBox="1"/>
          <p:nvPr>
            <p:ph type="title"/>
          </p:nvPr>
        </p:nvSpPr>
        <p:spPr>
          <a:xfrm>
            <a:off x="346075" y="639976"/>
            <a:ext cx="9862800" cy="376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Интерфейс | bestbmstu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3963" y="2560650"/>
            <a:ext cx="6303974" cy="3413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9"/>
          <p:cNvSpPr txBox="1"/>
          <p:nvPr>
            <p:ph idx="1" type="body"/>
          </p:nvPr>
        </p:nvSpPr>
        <p:spPr>
          <a:xfrm>
            <a:off x="315400" y="1016177"/>
            <a:ext cx="11561100" cy="95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31"/>
              </a:spcBef>
              <a:spcAft>
                <a:spcPts val="0"/>
              </a:spcAft>
              <a:buNone/>
            </a:pPr>
            <a:r>
              <a:rPr lang="ru-RU"/>
              <a:t>Результат обработки</a:t>
            </a:r>
            <a:endParaRPr/>
          </a:p>
        </p:txBody>
      </p:sp>
      <p:sp>
        <p:nvSpPr>
          <p:cNvPr id="393" name="Google Shape;393;p39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94" name="Google Shape;394;p39"/>
          <p:cNvSpPr txBox="1"/>
          <p:nvPr>
            <p:ph type="title"/>
          </p:nvPr>
        </p:nvSpPr>
        <p:spPr>
          <a:xfrm>
            <a:off x="315400" y="639976"/>
            <a:ext cx="9862800" cy="376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Интерфейс | bestbmstu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5" name="Google Shape;39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3100" y="1968075"/>
            <a:ext cx="8096198" cy="393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0"/>
          <p:cNvSpPr txBox="1"/>
          <p:nvPr>
            <p:ph idx="1" type="body"/>
          </p:nvPr>
        </p:nvSpPr>
        <p:spPr>
          <a:xfrm>
            <a:off x="315400" y="1016177"/>
            <a:ext cx="11561100" cy="95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31"/>
              </a:spcBef>
              <a:spcAft>
                <a:spcPts val="0"/>
              </a:spcAft>
              <a:buNone/>
            </a:pPr>
            <a:r>
              <a:rPr lang="ru-RU"/>
              <a:t>Просмотр истории всех расшифровок</a:t>
            </a:r>
            <a:endParaRPr/>
          </a:p>
        </p:txBody>
      </p:sp>
      <p:sp>
        <p:nvSpPr>
          <p:cNvPr id="402" name="Google Shape;402;p40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03" name="Google Shape;403;p40"/>
          <p:cNvSpPr txBox="1"/>
          <p:nvPr>
            <p:ph type="title"/>
          </p:nvPr>
        </p:nvSpPr>
        <p:spPr>
          <a:xfrm>
            <a:off x="315400" y="639976"/>
            <a:ext cx="9862800" cy="376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Интерфейс | bestbmstu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113" y="1771227"/>
            <a:ext cx="8669066" cy="4585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1"/>
          <p:cNvSpPr txBox="1"/>
          <p:nvPr>
            <p:ph type="title"/>
          </p:nvPr>
        </p:nvSpPr>
        <p:spPr>
          <a:xfrm>
            <a:off x="346075" y="421226"/>
            <a:ext cx="9862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Потенциальные улучшения | bestbmstu</a:t>
            </a:r>
            <a:endParaRPr/>
          </a:p>
        </p:txBody>
      </p:sp>
      <p:pic>
        <p:nvPicPr>
          <p:cNvPr descr="Изображение выглядит как текст, Шрифт, Графика, графический дизайн&#10;&#10;Содержимое, созданное искусственным интеллектом, может быть неверным." id="410" name="Google Shape;41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4724" y="6160668"/>
            <a:ext cx="996080" cy="512016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1"/>
          <p:cNvSpPr txBox="1"/>
          <p:nvPr>
            <p:ph idx="1" type="body"/>
          </p:nvPr>
        </p:nvSpPr>
        <p:spPr>
          <a:xfrm>
            <a:off x="315392" y="1016177"/>
            <a:ext cx="11561100" cy="5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/>
              <a:t>Улучшение точности модели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52"/>
              <a:buNone/>
            </a:pPr>
            <a:r>
              <a:rPr lang="ru-RU" sz="1400"/>
              <a:t>	•	Расширение обучающего датасета за счет архивных коллекций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/>
              <a:t>	•	Data augmentation: stroke transformations, elastic distortions, варьирование чернил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/>
              <a:t>Интеллектуальный поиск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/>
              <a:t>	•	RAG-система с векторной БД (Qdrant) для семантического поиска по документам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/>
              <a:t>	•	Чат-интерфейс для вопросов на естественном языке к архивным фондам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/>
              <a:t>Развитие платформы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/>
              <a:t>	•	REST API для интеграции со сторонними системами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/>
              <a:t>Масштабирование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/>
              <a:t>	•	Docker/Kubernetes для обработки больших коллекций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/>
              <a:t>	•	Аналитический dashboard с метриками качества и покрытия фондов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31"/>
              </a:spcBef>
              <a:spcAft>
                <a:spcPts val="0"/>
              </a:spcAft>
              <a:buSzPts val="1452"/>
              <a:buNone/>
            </a:pPr>
            <a:r>
              <a:t/>
            </a:r>
            <a:endParaRPr/>
          </a:p>
        </p:txBody>
      </p:sp>
      <p:sp>
        <p:nvSpPr>
          <p:cNvPr id="412" name="Google Shape;412;p41"/>
          <p:cNvSpPr txBox="1"/>
          <p:nvPr>
            <p:ph idx="12" type="sldNum"/>
          </p:nvPr>
        </p:nvSpPr>
        <p:spPr>
          <a:xfrm>
            <a:off x="11413507" y="6356358"/>
            <a:ext cx="55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1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8226E2"/>
      </a:accent5>
      <a:accent6>
        <a:srgbClr val="2D1451"/>
      </a:accent6>
      <a:hlink>
        <a:srgbClr val="FF0053"/>
      </a:hlink>
      <a:folHlink>
        <a:srgbClr val="5D2B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